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46720" y="-274320"/>
            <a:ext cx="4572000" cy="7315200"/>
          </a:xfrm>
          <a:prstGeom prst="rect">
            <a:avLst/>
          </a:prstGeom>
          <a:solidFill>
            <a:srgbClr val="122D43"/>
          </a:solidFill>
          <a:ln>
            <a:solidFill>
              <a:srgbClr val="12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685800"/>
            <a:ext cx="2926080" cy="2926080"/>
          </a:xfrm>
          <a:prstGeom prst="ellipse">
            <a:avLst/>
          </a:prstGeom>
          <a:solidFill>
            <a:srgbClr val="19415C"/>
          </a:solidFill>
          <a:ln>
            <a:solidFill>
              <a:srgbClr val="19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280160"/>
            <a:ext cx="1600200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7315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1ECEC"/>
                </a:solidFill>
                <a:latin typeface="Aptos"/>
              </a:rPr>
              <a:t>APPLICATION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217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Georgia"/>
              </a:rPr>
              <a:t>Koe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93392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FFFFFF"/>
                </a:solidFill>
                <a:latin typeface="Aptos"/>
              </a:rPr>
              <a:t>Lightning-fast, privacy-first voice dictation for Windows.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6126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E6ECF2"/>
                </a:solidFill>
                <a:latin typeface="Aptos"/>
              </a:rPr>
              <a:t>Press a hotkey, speak naturally, and get polished text pasted into any focused 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645920" cy="1143000"/>
          </a:xfrm>
          <a:prstGeom prst="roundRect">
            <a:avLst/>
          </a:prstGeom>
          <a:solidFill>
            <a:srgbClr val="16253A"/>
          </a:solidFill>
          <a:ln>
            <a:solidFill>
              <a:srgbClr val="27D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919472"/>
            <a:ext cx="13167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468112"/>
            <a:ext cx="13167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1ECEC"/>
                </a:solidFill>
                <a:latin typeface="Aptos"/>
              </a:rPr>
              <a:t>BYOK with Groq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4754880"/>
            <a:ext cx="2011680" cy="1143000"/>
          </a:xfrm>
          <a:prstGeom prst="roundRect">
            <a:avLst/>
          </a:prstGeom>
          <a:solidFill>
            <a:srgbClr val="16253A"/>
          </a:solidFill>
          <a:ln>
            <a:solidFill>
              <a:srgbClr val="27D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24912" y="4919472"/>
            <a:ext cx="16824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216x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5468112"/>
            <a:ext cx="16824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1ECEC"/>
                </a:solidFill>
                <a:latin typeface="Aptos"/>
              </a:rPr>
              <a:t>realtime Whisper speed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4754880"/>
            <a:ext cx="1874519" cy="1143000"/>
          </a:xfrm>
          <a:prstGeom prst="roundRect">
            <a:avLst/>
          </a:prstGeom>
          <a:solidFill>
            <a:srgbClr val="16253A"/>
          </a:solidFill>
          <a:ln>
            <a:solidFill>
              <a:srgbClr val="27D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65192" y="4919472"/>
            <a:ext cx="15453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v1.0.7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5468112"/>
            <a:ext cx="15453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1ECEC"/>
                </a:solidFill>
                <a:latin typeface="Aptos"/>
              </a:rPr>
              <a:t>Electron desktop release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72535"/>
                </a:solidFill>
                <a:latin typeface="Georgia"/>
              </a:rPr>
              <a:t>Why Koe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7748A"/>
                </a:solidFill>
                <a:latin typeface="Aptos"/>
              </a:rPr>
              <a:t>A practical alternative to subscription dictation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37252"/>
                </a:solidFill>
                <a:latin typeface="Georgia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72535"/>
                </a:solidFill>
                <a:latin typeface="Aptos"/>
              </a:rPr>
              <a:t>Most voice dictation tools either charge monthly, depend on the OS default experience, or skip the AI cleanup that makes dictated text usable.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7748A"/>
                </a:solidFill>
                <a:latin typeface="Aptos"/>
              </a:rPr>
              <a:t>Koe fixes that with a local-first capture flow, Groq Whisper for transcription, and Llama cleanup for readable output.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600200"/>
            <a:ext cx="17830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5112" y="184708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72535"/>
                </a:solidFill>
                <a:latin typeface="Georgia"/>
              </a:rPr>
              <a:t>WhisperFlow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5112" y="23317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37252"/>
                </a:solidFill>
                <a:latin typeface="Aptos"/>
              </a:rPr>
              <a:t>Paid SaaS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5112" y="292608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7748A"/>
                </a:solidFill>
                <a:latin typeface="Aptos"/>
              </a:rPr>
              <a:t>Strong 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336499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7748A"/>
                </a:solidFill>
                <a:latin typeface="Aptos"/>
              </a:rPr>
              <a:t>Monthly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17830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84708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72535"/>
                </a:solidFill>
                <a:latin typeface="Georgia"/>
              </a:rPr>
              <a:t>OS Dictation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3317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37252"/>
                </a:solidFill>
                <a:latin typeface="Aptos"/>
              </a:rPr>
              <a:t>Bundled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92608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7748A"/>
                </a:solidFill>
                <a:latin typeface="Aptos"/>
              </a:rPr>
              <a:t>Low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336499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7748A"/>
                </a:solidFill>
                <a:latin typeface="Aptos"/>
              </a:rPr>
              <a:t>Minimal formatting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600200"/>
            <a:ext cx="1783080" cy="3611880"/>
          </a:xfrm>
          <a:prstGeom prst="roundRect">
            <a:avLst/>
          </a:prstGeom>
          <a:solidFill>
            <a:srgbClr val="E0FBF7"/>
          </a:solidFill>
          <a:ln>
            <a:solidFill>
              <a:srgbClr val="27D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84708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72535"/>
                </a:solidFill>
                <a:latin typeface="Georgia"/>
              </a:rPr>
              <a:t>Koe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23317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7D3C3"/>
                </a:solidFill>
                <a:latin typeface="Aptos"/>
              </a:rPr>
              <a:t>Free BYOK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292608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7748A"/>
                </a:solidFill>
                <a:latin typeface="Aptos"/>
              </a:rPr>
              <a:t>High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336499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7748A"/>
                </a:solidFill>
                <a:latin typeface="Aptos"/>
              </a:rPr>
              <a:t>AI enhancement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From hotkey to polished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81ECEC"/>
                </a:solidFill>
                <a:latin typeface="Aptos"/>
              </a:rPr>
              <a:t>A short pipeline designed for speed and low friction.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965960"/>
            <a:ext cx="19659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8952" y="2130552"/>
            <a:ext cx="438912" cy="438912"/>
          </a:xfrm>
          <a:prstGeom prst="ellipse">
            <a:avLst/>
          </a:prstGeom>
          <a:solidFill>
            <a:srgbClr val="FFB703"/>
          </a:solidFill>
          <a:ln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185415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697480"/>
            <a:ext cx="16367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72535"/>
                </a:solidFill>
                <a:latin typeface="Aptos"/>
              </a:rPr>
              <a:t>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017520"/>
            <a:ext cx="163677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>
                <a:solidFill>
                  <a:srgbClr val="67748A"/>
                </a:solidFill>
                <a:latin typeface="Aptos"/>
              </a:rPr>
              <a:t>Global shortcut starts capture from any app.</a:t>
            </a:r>
          </a:p>
        </p:txBody>
      </p:sp>
      <p:sp>
        <p:nvSpPr>
          <p:cNvPr id="9" name="Chevron 8"/>
          <p:cNvSpPr/>
          <p:nvPr/>
        </p:nvSpPr>
        <p:spPr>
          <a:xfrm>
            <a:off x="2404872" y="2999232"/>
            <a:ext cx="438912" cy="219456"/>
          </a:xfrm>
          <a:prstGeom prst="chevron">
            <a:avLst/>
          </a:prstGeom>
          <a:solidFill>
            <a:srgbClr val="27D3C3"/>
          </a:solidFill>
          <a:ln>
            <a:solidFill>
              <a:srgbClr val="27D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1965960"/>
            <a:ext cx="19659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99232" y="2130552"/>
            <a:ext cx="438912" cy="438912"/>
          </a:xfrm>
          <a:prstGeom prst="ellipse">
            <a:avLst/>
          </a:prstGeom>
          <a:solidFill>
            <a:srgbClr val="FFB703"/>
          </a:solidFill>
          <a:ln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18104" y="2185415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697480"/>
            <a:ext cx="16367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72535"/>
                </a:solidFill>
                <a:latin typeface="Aptos"/>
              </a:rPr>
              <a:t>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3017520"/>
            <a:ext cx="163677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>
                <a:solidFill>
                  <a:srgbClr val="67748A"/>
                </a:solidFill>
                <a:latin typeface="Aptos"/>
              </a:rPr>
              <a:t>Local Silero VAD keeps listening offline and waits for real speech.</a:t>
            </a:r>
          </a:p>
        </p:txBody>
      </p:sp>
      <p:sp>
        <p:nvSpPr>
          <p:cNvPr id="15" name="Chevron 14"/>
          <p:cNvSpPr/>
          <p:nvPr/>
        </p:nvSpPr>
        <p:spPr>
          <a:xfrm>
            <a:off x="4645152" y="2999232"/>
            <a:ext cx="438912" cy="219456"/>
          </a:xfrm>
          <a:prstGeom prst="chevron">
            <a:avLst/>
          </a:prstGeom>
          <a:solidFill>
            <a:srgbClr val="27D3C3"/>
          </a:solidFill>
          <a:ln>
            <a:solidFill>
              <a:srgbClr val="27D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74920" y="1965960"/>
            <a:ext cx="19659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39512" y="2130552"/>
            <a:ext cx="438912" cy="438912"/>
          </a:xfrm>
          <a:prstGeom prst="ellipse">
            <a:avLst/>
          </a:prstGeom>
          <a:solidFill>
            <a:srgbClr val="FFB703"/>
          </a:solidFill>
          <a:ln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8383" y="2185415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2697480"/>
            <a:ext cx="16367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72535"/>
                </a:solidFill>
                <a:latin typeface="Aptos"/>
              </a:rPr>
              <a:t>Transcribe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3017520"/>
            <a:ext cx="163677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>
                <a:solidFill>
                  <a:srgbClr val="67748A"/>
                </a:solidFill>
                <a:latin typeface="Aptos"/>
              </a:rPr>
              <a:t>Groq Whisper converts audio to text with near-instant turnaround.</a:t>
            </a:r>
          </a:p>
        </p:txBody>
      </p:sp>
      <p:sp>
        <p:nvSpPr>
          <p:cNvPr id="21" name="Chevron 20"/>
          <p:cNvSpPr/>
          <p:nvPr/>
        </p:nvSpPr>
        <p:spPr>
          <a:xfrm>
            <a:off x="6885431" y="2999232"/>
            <a:ext cx="438912" cy="219456"/>
          </a:xfrm>
          <a:prstGeom prst="chevron">
            <a:avLst/>
          </a:prstGeom>
          <a:solidFill>
            <a:srgbClr val="27D3C3"/>
          </a:solidFill>
          <a:ln>
            <a:solidFill>
              <a:srgbClr val="27D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0" y="1965960"/>
            <a:ext cx="19659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79792" y="2130552"/>
            <a:ext cx="438912" cy="438912"/>
          </a:xfrm>
          <a:prstGeom prst="ellipse">
            <a:avLst/>
          </a:prstGeom>
          <a:solidFill>
            <a:srgbClr val="FFB703"/>
          </a:solidFill>
          <a:ln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98664" y="2185415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2697480"/>
            <a:ext cx="16367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72535"/>
                </a:solidFill>
                <a:latin typeface="Aptos"/>
              </a:rPr>
              <a:t>Enhance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3017520"/>
            <a:ext cx="163677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>
                <a:solidFill>
                  <a:srgbClr val="67748A"/>
                </a:solidFill>
                <a:latin typeface="Aptos"/>
              </a:rPr>
              <a:t>Llama cleans filler words, punctuation, and formatting.</a:t>
            </a:r>
          </a:p>
        </p:txBody>
      </p:sp>
      <p:sp>
        <p:nvSpPr>
          <p:cNvPr id="27" name="Chevron 26"/>
          <p:cNvSpPr/>
          <p:nvPr/>
        </p:nvSpPr>
        <p:spPr>
          <a:xfrm>
            <a:off x="9125712" y="2999232"/>
            <a:ext cx="438912" cy="219456"/>
          </a:xfrm>
          <a:prstGeom prst="chevron">
            <a:avLst/>
          </a:prstGeom>
          <a:solidFill>
            <a:srgbClr val="27D3C3"/>
          </a:solidFill>
          <a:ln>
            <a:solidFill>
              <a:srgbClr val="27D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55480" y="1965960"/>
            <a:ext cx="19659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20072" y="2130552"/>
            <a:ext cx="438912" cy="438912"/>
          </a:xfrm>
          <a:prstGeom prst="ellipse">
            <a:avLst/>
          </a:prstGeom>
          <a:solidFill>
            <a:srgbClr val="FFB703"/>
          </a:solidFill>
          <a:ln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38944" y="2185415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0072" y="2697480"/>
            <a:ext cx="16367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72535"/>
                </a:solidFill>
                <a:latin typeface="Aptos"/>
              </a:rPr>
              <a:t>Deliver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72" y="3017520"/>
            <a:ext cx="163677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>
                <a:solidFill>
                  <a:srgbClr val="67748A"/>
                </a:solidFill>
                <a:latin typeface="Aptos"/>
              </a:rPr>
              <a:t>Koe copies or auto-pastes the result where the cursor already is.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54680" y="4983480"/>
            <a:ext cx="5852160" cy="868680"/>
          </a:xfrm>
          <a:prstGeom prst="roundRect">
            <a:avLst/>
          </a:prstGeom>
          <a:solidFill>
            <a:srgbClr val="16253A"/>
          </a:solidFill>
          <a:ln>
            <a:solidFill>
              <a:srgbClr val="284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0" y="523036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81ECEC"/>
                </a:solidFill>
                <a:latin typeface="Aptos"/>
              </a:rPr>
              <a:t>Privacy guardrail: audio only leaves the device after speech is detected.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72535"/>
                </a:solidFill>
                <a:latin typeface="Georgia"/>
              </a:rPr>
              <a:t>Core product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7748A"/>
                </a:solidFill>
                <a:latin typeface="Aptos"/>
              </a:rPr>
              <a:t>The current release focuses on the daily dictation loop.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2743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" y="1673351"/>
            <a:ext cx="384048" cy="384048"/>
          </a:xfrm>
          <a:prstGeom prst="ellipse">
            <a:avLst/>
          </a:prstGeom>
          <a:solidFill>
            <a:srgbClr val="27D3C3"/>
          </a:solidFill>
          <a:ln>
            <a:solidFill>
              <a:srgbClr val="27D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9888" y="167335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7748A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24140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72535"/>
                </a:solidFill>
                <a:latin typeface="Aptos"/>
              </a:rPr>
              <a:t>Global hotkey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04872"/>
            <a:ext cx="2414016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7748A"/>
                </a:solidFill>
                <a:latin typeface="Aptos"/>
              </a:rPr>
              <a:t>Starts or stops dictation from anywhere with Ctrl+Shift+Space.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508760"/>
            <a:ext cx="2743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33672" y="1673351"/>
            <a:ext cx="384048" cy="384048"/>
          </a:xfrm>
          <a:prstGeom prst="ellipse">
            <a:avLst/>
          </a:prstGeom>
          <a:solidFill>
            <a:srgbClr val="27D3C3"/>
          </a:solidFill>
          <a:ln>
            <a:solidFill>
              <a:srgbClr val="27D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167335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7748A"/>
                </a:solidFill>
                <a:latin typeface="Aptos"/>
              </a:rPr>
              <a:t>AUDIO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3672" y="2011680"/>
            <a:ext cx="24140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72535"/>
                </a:solidFill>
                <a:latin typeface="Aptos"/>
              </a:rPr>
              <a:t>Local VAD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3672" y="2404872"/>
            <a:ext cx="2414016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7748A"/>
                </a:solidFill>
                <a:latin typeface="Aptos"/>
              </a:rPr>
              <a:t>ONNX-powered speech detection runs on-device before any upload.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508760"/>
            <a:ext cx="2743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71231" y="1673351"/>
            <a:ext cx="384048" cy="384048"/>
          </a:xfrm>
          <a:prstGeom prst="ellipse">
            <a:avLst/>
          </a:prstGeom>
          <a:solidFill>
            <a:srgbClr val="27D3C3"/>
          </a:solidFill>
          <a:ln>
            <a:solidFill>
              <a:srgbClr val="27D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1673351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7748A"/>
                </a:solidFill>
                <a:latin typeface="Aptos"/>
              </a:rPr>
              <a:t>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1231" y="2011680"/>
            <a:ext cx="24140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72535"/>
                </a:solidFill>
                <a:latin typeface="Aptos"/>
              </a:rPr>
              <a:t>Instant transcription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1" y="2404872"/>
            <a:ext cx="2414016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7748A"/>
                </a:solidFill>
                <a:latin typeface="Aptos"/>
              </a:rPr>
              <a:t>Groq Whisper handles chunks at very high realtime speed.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94760"/>
            <a:ext cx="2743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3959352"/>
            <a:ext cx="384048" cy="384048"/>
          </a:xfrm>
          <a:prstGeom prst="ellipse">
            <a:avLst/>
          </a:prstGeom>
          <a:solidFill>
            <a:srgbClr val="27D3C3"/>
          </a:solidFill>
          <a:ln>
            <a:solidFill>
              <a:srgbClr val="27D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9888" y="395935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7748A"/>
                </a:solidFill>
                <a:latin typeface="Aptos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297680"/>
            <a:ext cx="24140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72535"/>
                </a:solidFill>
                <a:latin typeface="Aptos"/>
              </a:rPr>
              <a:t>AI cleanup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690872"/>
            <a:ext cx="2414016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7748A"/>
                </a:solidFill>
                <a:latin typeface="Aptos"/>
              </a:rPr>
              <a:t>Llama turns rough dictation into clean, readable copy.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3794760"/>
            <a:ext cx="2743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233672" y="3959352"/>
            <a:ext cx="384048" cy="384048"/>
          </a:xfrm>
          <a:prstGeom prst="ellipse">
            <a:avLst/>
          </a:prstGeom>
          <a:solidFill>
            <a:srgbClr val="27D3C3"/>
          </a:solidFill>
          <a:ln>
            <a:solidFill>
              <a:srgbClr val="27D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7448" y="395935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7748A"/>
                </a:solidFill>
                <a:latin typeface="Aptos"/>
              </a:rPr>
              <a:t>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33672" y="4297680"/>
            <a:ext cx="24140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72535"/>
                </a:solidFill>
                <a:latin typeface="Aptos"/>
              </a:rPr>
              <a:t>Auto-paste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33672" y="4690872"/>
            <a:ext cx="2414016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7748A"/>
                </a:solidFill>
                <a:latin typeface="Aptos"/>
              </a:rPr>
              <a:t>Results can be typed directly into the active text field.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3794760"/>
            <a:ext cx="2743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71231" y="3959352"/>
            <a:ext cx="384048" cy="384048"/>
          </a:xfrm>
          <a:prstGeom prst="ellipse">
            <a:avLst/>
          </a:prstGeom>
          <a:solidFill>
            <a:srgbClr val="27D3C3"/>
          </a:solidFill>
          <a:ln>
            <a:solidFill>
              <a:srgbClr val="27D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65008" y="395935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7748A"/>
                </a:solidFill>
                <a:latin typeface="Aptos"/>
              </a:rPr>
              <a:t>RECALL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71231" y="4297680"/>
            <a:ext cx="24140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72535"/>
                </a:solidFill>
                <a:latin typeface="Aptos"/>
              </a:rPr>
              <a:t>History and usage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71231" y="4690872"/>
            <a:ext cx="2414016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7748A"/>
                </a:solidFill>
                <a:latin typeface="Aptos"/>
              </a:rPr>
              <a:t>Recent transcriptions and free-tier usage stay visible in-app.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72535"/>
                </a:solidFill>
                <a:latin typeface="Georgia"/>
              </a:rPr>
              <a:t>Architecture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7748A"/>
                </a:solidFill>
                <a:latin typeface="Aptos"/>
              </a:rPr>
              <a:t>Electron splits system integration from the recording UI.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34924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55080" y="1508760"/>
            <a:ext cx="5074920" cy="4480560"/>
          </a:xfrm>
          <a:prstGeom prst="roundRect">
            <a:avLst/>
          </a:prstGeom>
          <a:solidFill>
            <a:srgbClr val="F8FBFD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72535"/>
                </a:solidFill>
                <a:latin typeface="Georgia"/>
              </a:rPr>
              <a:t>Renderer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17830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72535"/>
                </a:solidFill>
                <a:latin typeface="Georgia"/>
              </a:rPr>
              <a:t>Main process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331720"/>
            <a:ext cx="4754880" cy="731520"/>
          </a:xfrm>
          <a:prstGeom prst="roundRect">
            <a:avLst/>
          </a:prstGeom>
          <a:solidFill>
            <a:srgbClr val="27D3C3"/>
          </a:solidFill>
          <a:ln>
            <a:solidFill>
              <a:srgbClr val="27D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423160"/>
            <a:ext cx="442569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72535"/>
                </a:solidFill>
                <a:latin typeface="Aptos"/>
              </a:rPr>
              <a:t>Floating pill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679191"/>
            <a:ext cx="4425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72535"/>
                </a:solidFill>
                <a:latin typeface="Aptos"/>
              </a:rPr>
              <a:t>Always-on-top status, live feedback, minimal distraction.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246120"/>
            <a:ext cx="4754880" cy="731520"/>
          </a:xfrm>
          <a:prstGeom prst="roundRect">
            <a:avLst/>
          </a:prstGeom>
          <a:solidFill>
            <a:srgbClr val="81ECEC"/>
          </a:solidFill>
          <a:ln>
            <a:solidFill>
              <a:srgbClr val="81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37560"/>
            <a:ext cx="442569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72535"/>
                </a:solidFill>
                <a:latin typeface="Aptos"/>
              </a:rPr>
              <a:t>Audio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593591"/>
            <a:ext cx="4425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72535"/>
                </a:solidFill>
                <a:latin typeface="Aptos"/>
              </a:rPr>
              <a:t>Web Audio API, AudioWorklet, VAD, and WAV encoding.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160520"/>
            <a:ext cx="4754880" cy="731520"/>
          </a:xfrm>
          <a:prstGeom prst="roundRect">
            <a:avLst/>
          </a:prstGeom>
          <a:solidFill>
            <a:srgbClr val="FFB703"/>
          </a:solidFill>
          <a:ln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251959"/>
            <a:ext cx="442569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72535"/>
                </a:solidFill>
                <a:latin typeface="Aptos"/>
              </a:rPr>
              <a:t>Settings and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4507992"/>
            <a:ext cx="4425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72535"/>
                </a:solidFill>
                <a:latin typeface="Aptos"/>
              </a:rPr>
              <a:t>Language, API key, enhancement mode, usage readout.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331720"/>
            <a:ext cx="4526280" cy="731520"/>
          </a:xfrm>
          <a:prstGeom prst="roundRect">
            <a:avLst/>
          </a:prstGeom>
          <a:solidFill>
            <a:srgbClr val="27D3C3"/>
          </a:solidFill>
          <a:ln>
            <a:solidFill>
              <a:srgbClr val="27D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3992" y="2423160"/>
            <a:ext cx="419709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72535"/>
                </a:solidFill>
                <a:latin typeface="Aptos"/>
              </a:rPr>
              <a:t>System tray + shortcuts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2679191"/>
            <a:ext cx="41970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72535"/>
                </a:solidFill>
                <a:latin typeface="Aptos"/>
              </a:rPr>
              <a:t>Runs quietly in the tray and listens for global commands.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3246120"/>
            <a:ext cx="4526280" cy="731520"/>
          </a:xfrm>
          <a:prstGeom prst="roundRect">
            <a:avLst/>
          </a:prstGeom>
          <a:solidFill>
            <a:srgbClr val="81ECEC"/>
          </a:solidFill>
          <a:ln>
            <a:solidFill>
              <a:srgbClr val="81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3337560"/>
            <a:ext cx="419709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72535"/>
                </a:solidFill>
                <a:latin typeface="Aptos"/>
              </a:rPr>
              <a:t>Groq service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3593591"/>
            <a:ext cx="41970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72535"/>
                </a:solidFill>
                <a:latin typeface="Aptos"/>
              </a:rPr>
              <a:t>Whisper transcription, Llama enhancement, rate limiting.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4160520"/>
            <a:ext cx="4526280" cy="731520"/>
          </a:xfrm>
          <a:prstGeom prst="roundRect">
            <a:avLst/>
          </a:prstGeom>
          <a:solidFill>
            <a:srgbClr val="FFB703"/>
          </a:solidFill>
          <a:ln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3992" y="4251959"/>
            <a:ext cx="419709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72535"/>
                </a:solidFill>
                <a:latin typeface="Aptos"/>
              </a:rPr>
              <a:t>Clipboard and paste bridge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4507992"/>
            <a:ext cx="41970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72535"/>
                </a:solidFill>
                <a:latin typeface="Aptos"/>
              </a:rPr>
              <a:t>Returns cleaned text back to the active app.</a:t>
            </a:r>
          </a:p>
        </p:txBody>
      </p:sp>
      <p:sp>
        <p:nvSpPr>
          <p:cNvPr id="26" name="Chevron 25"/>
          <p:cNvSpPr/>
          <p:nvPr/>
        </p:nvSpPr>
        <p:spPr>
          <a:xfrm>
            <a:off x="5806440" y="3246120"/>
            <a:ext cx="384048" cy="384048"/>
          </a:xfrm>
          <a:prstGeom prst="chevron">
            <a:avLst/>
          </a:prstGeom>
          <a:solidFill>
            <a:srgbClr val="F37252"/>
          </a:solidFill>
          <a:ln>
            <a:solidFill>
              <a:srgbClr val="F37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3749039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37252"/>
                </a:solidFill>
                <a:latin typeface="Aptos"/>
              </a:rPr>
              <a:t>IPC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6172200"/>
            <a:ext cx="1316736" cy="347472"/>
          </a:xfrm>
          <a:prstGeom prst="rect">
            <a:avLst/>
          </a:prstGeom>
          <a:solidFill>
            <a:srgbClr val="F4F7FA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7" y="625449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19" b="1">
                <a:solidFill>
                  <a:srgbClr val="67748A"/>
                </a:solidFill>
                <a:latin typeface="Aptos"/>
              </a:rPr>
              <a:t>Electron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13432" y="6172200"/>
            <a:ext cx="1024128" cy="347472"/>
          </a:xfrm>
          <a:prstGeom prst="rect">
            <a:avLst/>
          </a:prstGeom>
          <a:solidFill>
            <a:srgbClr val="F4F7FA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23160" y="6254496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19" b="1">
                <a:solidFill>
                  <a:srgbClr val="67748A"/>
                </a:solidFill>
                <a:latin typeface="Aptos"/>
              </a:rPr>
              <a:t>Vite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65576" y="6172200"/>
            <a:ext cx="1243584" cy="347472"/>
          </a:xfrm>
          <a:prstGeom prst="rect">
            <a:avLst/>
          </a:prstGeom>
          <a:solidFill>
            <a:srgbClr val="F4F7FA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75304" y="6254496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19" b="1">
                <a:solidFill>
                  <a:srgbClr val="67748A"/>
                </a:solidFill>
                <a:latin typeface="Aptos"/>
              </a:rPr>
              <a:t>Whisper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37176" y="6172200"/>
            <a:ext cx="1243584" cy="347472"/>
          </a:xfrm>
          <a:prstGeom prst="rect">
            <a:avLst/>
          </a:prstGeom>
          <a:solidFill>
            <a:srgbClr val="F4F7FA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46904" y="6254496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19" b="1">
                <a:solidFill>
                  <a:srgbClr val="67748A"/>
                </a:solidFill>
                <a:latin typeface="Aptos"/>
              </a:rPr>
              <a:t>Llama 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08776" y="6172200"/>
            <a:ext cx="1243584" cy="347472"/>
          </a:xfrm>
          <a:prstGeom prst="rect">
            <a:avLst/>
          </a:prstGeom>
          <a:solidFill>
            <a:srgbClr val="F4F7FA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18504" y="6254496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19" b="1">
                <a:solidFill>
                  <a:srgbClr val="67748A"/>
                </a:solidFill>
                <a:latin typeface="Aptos"/>
              </a:rPr>
              <a:t>vad-web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0376" y="6172200"/>
            <a:ext cx="1755648" cy="347472"/>
          </a:xfrm>
          <a:prstGeom prst="rect">
            <a:avLst/>
          </a:prstGeom>
          <a:solidFill>
            <a:srgbClr val="F4F7FA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0104" y="6254496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19" b="1">
                <a:solidFill>
                  <a:srgbClr val="67748A"/>
                </a:solidFill>
                <a:latin typeface="Aptos"/>
              </a:rPr>
              <a:t>electron-store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Privacy and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81ECEC"/>
                </a:solidFill>
                <a:latin typeface="Aptos"/>
              </a:rPr>
              <a:t>The product stays useful because the operating model stays lightweight.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54480"/>
            <a:ext cx="4800600" cy="4526280"/>
          </a:xfrm>
          <a:prstGeom prst="roundRect">
            <a:avLst/>
          </a:prstGeom>
          <a:solidFill>
            <a:srgbClr val="15263A"/>
          </a:solidFill>
          <a:ln>
            <a:solidFill>
              <a:srgbClr val="2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orgia"/>
              </a:rPr>
              <a:t>Privacy-first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41605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E6ECF2"/>
                </a:solidFill>
                <a:latin typeface="Aptos"/>
              </a:rPr>
              <a:t>Voice activity detection runs locally with ONNX WebAssembly.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E6ECF2"/>
                </a:solidFill>
                <a:latin typeface="Aptos"/>
              </a:rPr>
              <a:t>Speech chunks are uploaded only when actual speaking is detected.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E6ECF2"/>
                </a:solidFill>
                <a:latin typeface="Aptos"/>
              </a:rPr>
              <a:t>No long-term audio storage is required for the core workflow.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E6ECF2"/>
                </a:solidFill>
                <a:latin typeface="Aptos"/>
              </a:rPr>
              <a:t>The user's Groq API key is stored locally with electron-store.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783080"/>
            <a:ext cx="1874519" cy="1234440"/>
          </a:xfrm>
          <a:prstGeom prst="roundRect">
            <a:avLst/>
          </a:prstGeom>
          <a:solidFill>
            <a:srgbClr val="16253A"/>
          </a:solidFill>
          <a:ln>
            <a:solidFill>
              <a:srgbClr val="27D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53912" y="1947672"/>
            <a:ext cx="15453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3912" y="2496312"/>
            <a:ext cx="15453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1ECEC"/>
                </a:solidFill>
                <a:latin typeface="Aptos"/>
              </a:rPr>
              <a:t>requests per minute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783080"/>
            <a:ext cx="1874519" cy="1234440"/>
          </a:xfrm>
          <a:prstGeom prst="roundRect">
            <a:avLst/>
          </a:prstGeom>
          <a:solidFill>
            <a:srgbClr val="16253A"/>
          </a:solidFill>
          <a:ln>
            <a:solidFill>
              <a:srgbClr val="27D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1" y="1947672"/>
            <a:ext cx="15453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2,000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1" y="2496312"/>
            <a:ext cx="15453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1ECEC"/>
                </a:solidFill>
                <a:latin typeface="Aptos"/>
              </a:rPr>
              <a:t>requests per day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1783080"/>
            <a:ext cx="1371600" cy="1234440"/>
          </a:xfrm>
          <a:prstGeom prst="roundRect">
            <a:avLst/>
          </a:prstGeom>
          <a:solidFill>
            <a:srgbClr val="16253A"/>
          </a:solidFill>
          <a:ln>
            <a:solidFill>
              <a:srgbClr val="27D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22992" y="1947672"/>
            <a:ext cx="10424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28.8k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22992" y="2496312"/>
            <a:ext cx="10424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1ECEC"/>
                </a:solidFill>
                <a:latin typeface="Aptos"/>
              </a:rPr>
              <a:t>seconds of audio/day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3383280"/>
            <a:ext cx="5440680" cy="1920240"/>
          </a:xfrm>
          <a:prstGeom prst="roundRect">
            <a:avLst/>
          </a:prstGeom>
          <a:solidFill>
            <a:srgbClr val="15263A"/>
          </a:solidFill>
          <a:ln>
            <a:solidFill>
              <a:srgbClr val="2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65760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orgia"/>
              </a:rPr>
              <a:t>Why this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096512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CF2"/>
                </a:solidFill>
                <a:latin typeface="Aptos"/>
              </a:rPr>
              <a:t>Koe avoids the usual SaaS tax by letting the user bring a free Groq key. That keeps infrastructure cost near zero while preserving a premium dictation experience.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72535"/>
                </a:solidFill>
                <a:latin typeface="Georgia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7748A"/>
                </a:solidFill>
                <a:latin typeface="Aptos"/>
              </a:rPr>
              <a:t>The foundation is in place; the next gains are workflow depth and platform reach.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91640"/>
            <a:ext cx="28803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2880360" cy="256032"/>
          </a:xfrm>
          <a:prstGeom prst="rect">
            <a:avLst/>
          </a:prstGeom>
          <a:solidFill>
            <a:srgbClr val="27D3C3"/>
          </a:solidFill>
          <a:ln>
            <a:solidFill>
              <a:srgbClr val="27D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72535"/>
                </a:solidFill>
                <a:latin typeface="Georgia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24688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67748A"/>
                </a:solidFill>
                <a:latin typeface="Aptos"/>
              </a:rPr>
              <a:t>Global hotkey toggle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67748A"/>
                </a:solidFill>
                <a:latin typeface="Aptos"/>
              </a:rPr>
              <a:t>Local VAD and chunking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67748A"/>
                </a:solidFill>
                <a:latin typeface="Aptos"/>
              </a:rPr>
              <a:t>Groq Whisper + Llama cleanup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67748A"/>
                </a:solidFill>
                <a:latin typeface="Aptos"/>
              </a:rPr>
              <a:t>History and usage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691640"/>
            <a:ext cx="28803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1691640"/>
            <a:ext cx="2880360" cy="256032"/>
          </a:xfrm>
          <a:prstGeom prst="rect">
            <a:avLst/>
          </a:prstGeom>
          <a:solidFill>
            <a:srgbClr val="FFB703"/>
          </a:solidFill>
          <a:ln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057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72535"/>
                </a:solidFill>
                <a:latin typeface="Georgia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560320"/>
            <a:ext cx="24688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67748A"/>
                </a:solidFill>
                <a:latin typeface="Aptos"/>
              </a:rPr>
              <a:t>Custom AI prompts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67748A"/>
                </a:solidFill>
                <a:latin typeface="Aptos"/>
              </a:rPr>
              <a:t>Shortcut customization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67748A"/>
                </a:solidFill>
                <a:latin typeface="Aptos"/>
              </a:rPr>
              <a:t>Export history as .txt or .md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67748A"/>
                </a:solidFill>
                <a:latin typeface="Aptos"/>
              </a:rPr>
              <a:t>Mac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691640"/>
            <a:ext cx="28803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43800" y="1691640"/>
            <a:ext cx="2880360" cy="256032"/>
          </a:xfrm>
          <a:prstGeom prst="rect">
            <a:avLst/>
          </a:prstGeom>
          <a:solidFill>
            <a:srgbClr val="F37252"/>
          </a:solidFill>
          <a:ln>
            <a:solidFill>
              <a:srgbClr val="F37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057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72535"/>
                </a:solidFill>
                <a:latin typeface="Georgia"/>
              </a:rPr>
              <a:t>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560320"/>
            <a:ext cx="24688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67748A"/>
                </a:solidFill>
                <a:latin typeface="Aptos"/>
              </a:rPr>
              <a:t>Snippet library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67748A"/>
                </a:solidFill>
                <a:latin typeface="Aptos"/>
              </a:rPr>
              <a:t>App-specific tone profiles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67748A"/>
                </a:solidFill>
                <a:latin typeface="Aptos"/>
              </a:rPr>
              <a:t>Cloud sync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67748A"/>
                </a:solidFill>
                <a:latin typeface="Aptos"/>
              </a:rPr>
              <a:t>Team collaboration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73152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86868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81ECEC"/>
                </a:solidFill>
                <a:latin typeface="Aptos"/>
              </a:rPr>
              <a:t>KOE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A fast, focused dictation app built around one job: turning speech into usable text with as little friction as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ECF2"/>
                </a:solidFill>
                <a:latin typeface="Aptos"/>
              </a:rPr>
              <a:t>The product combines desktop-level ergonomics, practical privacy constraints, and free-tier economics into a tool that can compete with paid alternatives for everyday 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600200"/>
            <a:ext cx="3429000" cy="2926080"/>
          </a:xfrm>
          <a:prstGeom prst="roundRect">
            <a:avLst/>
          </a:prstGeom>
          <a:solidFill>
            <a:srgbClr val="15263A"/>
          </a:solidFill>
          <a:ln>
            <a:solidFill>
              <a:srgbClr val="2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201168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81ECEC"/>
                </a:solidFill>
                <a:latin typeface="Aptos"/>
              </a:rPr>
              <a:t>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560320"/>
            <a:ext cx="2697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Georgia"/>
              </a:rPr>
              <a:t>"WhisperFlow-quality convenience without the recurring subscription."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8978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1ECEC"/>
                </a:solidFill>
                <a:latin typeface="Aptos"/>
              </a:rPr>
              <a:t>Repository version captured in this deck: 1.0.7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Koe Application Overview</dc:title>
  <dc:subject>Application presentation for Koe desktop dictation app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